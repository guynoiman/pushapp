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4206240"/>
            <a:ext cx="4572000" cy="4572000"/>
          </a:xfrm>
          <a:prstGeom prst="ellipse">
            <a:avLst/>
          </a:prstGeom>
          <a:solidFill>
            <a:srgbClr val="F2765E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035040" y="-2011680"/>
            <a:ext cx="4023360" cy="4023360"/>
          </a:xfrm>
          <a:prstGeom prst="ellipse">
            <a:avLst/>
          </a:prstGeom>
          <a:solidFill>
            <a:srgbClr val="8B6FD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77240"/>
            <a:ext cx="1005840" cy="1005840"/>
          </a:xfrm>
          <a:prstGeom prst="ellipse">
            <a:avLst/>
          </a:prstGeom>
          <a:solidFill>
            <a:srgbClr val="F2765E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101864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89611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640080" y="25146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Helping people become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they choose to be.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>
                    <a:alpha val="8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living by default.  Start living by design.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5120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A2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Imagine.</a:t>
            </a:r>
            <a:pPr indent="0" marL="0">
              <a:buNone/>
            </a:pPr>
            <a:r>
              <a:rPr lang="en-US" sz="20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Dare.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Achieve.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0080" y="61996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Overview · 2026</a:t>
            </a:r>
            <a:endParaRPr lang="en-US" sz="1200" dirty="0"/>
          </a:p>
        </p:txBody>
      </p:sp>
      <p:pic>
        <p:nvPicPr>
          <p:cNvPr id="11" name="Image 1" descr="/private/tmp/claude-501/-Users-guynoiman-Documents-PushApp/0b1108c4-6b2c-4410-8703-e7ff2feb1437/scratchpad/deck/screens/screen-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">
            <a:off x="8732520" y="868680"/>
            <a:ext cx="2353235" cy="5120640"/>
          </a:xfrm>
          <a:prstGeom prst="rect">
            <a:avLst/>
          </a:prstGeom>
          <a:effectLst>
            <a:outerShdw sx="100000" sy="100000" kx="0" ky="0" algn="bl" rotWithShape="0" blurRad="203200" dist="88900" dir="5400000">
              <a:srgbClr val="000000">
                <a:alpha val="22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Knowing what you want</a:t>
            </a:r>
            <a:endParaRPr lang="en-US" sz="3200" dirty="0"/>
          </a:p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isn't the hard part.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rarely fail from lack of ambition. </a:t>
            </a:r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fail because lasting change is hard to sustain — alone.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whirlpool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407408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lift your head, decide to change, start moving — and the current pulls you back. PushApp is the guide that helps people escape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0" y="1645920"/>
            <a:ext cx="3108960" cy="3108960"/>
          </a:xfrm>
          <a:prstGeom prst="ellipse">
            <a:avLst/>
          </a:prstGeom>
          <a:solidFill>
            <a:srgbClr val="179A9C">
              <a:alpha val="1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12480" y="2011680"/>
            <a:ext cx="2377440" cy="2377440"/>
          </a:xfrm>
          <a:prstGeom prst="ellipse">
            <a:avLst/>
          </a:prstGeom>
          <a:solidFill>
            <a:srgbClr val="179A9C">
              <a:alpha val="3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778240" y="2377440"/>
            <a:ext cx="1645920" cy="1645920"/>
          </a:xfrm>
          <a:prstGeom prst="ellipse">
            <a:avLst/>
          </a:prstGeom>
          <a:solidFill>
            <a:srgbClr val="F2765E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0" y="2743200"/>
            <a:ext cx="914400" cy="914400"/>
          </a:xfrm>
          <a:prstGeom prst="ellipse">
            <a:avLst/>
          </a:prstGeom>
          <a:solidFill>
            <a:srgbClr val="F2765E">
              <a:alpha val="7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189720" y="2788920"/>
            <a:ext cx="822960" cy="8229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7230" y="2986430"/>
            <a:ext cx="427939" cy="42793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F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moment for a growth companion is here.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25780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651760"/>
            <a:ext cx="841248" cy="841248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588" y="2853660"/>
            <a:ext cx="437449" cy="4374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38528" y="248716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79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can finally be a companion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38528" y="31272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persistent, personal guide between the reminders and conversations.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2194560"/>
            <a:ext cx="525780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0528" y="2651760"/>
            <a:ext cx="841248" cy="841248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428" y="2853660"/>
            <a:ext cx="437449" cy="4374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16368" y="248716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4A80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Rich real-life context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516368" y="31272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carry time, calendar and location — the signals to intervene well.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270248"/>
            <a:ext cx="525780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2688" y="4727448"/>
            <a:ext cx="841248" cy="841248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588" y="4929348"/>
            <a:ext cx="437449" cy="4374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38528" y="456285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Distraction is at an all-time high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38528" y="5202936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feel — and want to reverse — the cost of it.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4270248"/>
            <a:ext cx="525780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0528" y="4727448"/>
            <a:ext cx="841248" cy="841248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2428" y="4929348"/>
            <a:ext cx="437449" cy="4374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16368" y="456285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8B6F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went short &amp; continuous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516368" y="5202936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now happens in small sessions, not long courses.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3566160"/>
            <a:ext cx="4572000" cy="4572000"/>
          </a:xfrm>
          <a:prstGeom prst="ellipse">
            <a:avLst/>
          </a:prstGeom>
          <a:solidFill>
            <a:srgbClr val="179A9C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4206240" cy="4206240"/>
          </a:xfrm>
          <a:prstGeom prst="ellipse">
            <a:avLst/>
          </a:prstGeom>
          <a:solidFill>
            <a:srgbClr val="F2765E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7A2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VISION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People are not a finished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of themselves.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isn't fixed. Everyone can grow and intentionally shape who they become — PushApp exists to help them, and to keep them on the path.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10908792" cy="1371600"/>
          </a:xfrm>
          <a:prstGeom prst="roundRect">
            <a:avLst>
              <a:gd name="adj" fmla="val 10667"/>
            </a:avLst>
          </a:prstGeom>
          <a:solidFill>
            <a:srgbClr val="372B58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46451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A2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long-term vision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5010912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the operating system for personal growth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accessible and supported, not reserved for the already-disciplined.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 habit tracker.</a:t>
            </a:r>
            <a:endParaRPr lang="en-US" sz="2900" dirty="0"/>
          </a:p>
          <a:p>
            <a:pPr indent="0" marL="0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personal-growth platform.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that usually live in separate apps — in one coherent experience that learns how each person succeeds.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320040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337560"/>
            <a:ext cx="777240" cy="77724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352409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55648" y="332841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9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Journeys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55648" y="369417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→ steps, rhythm &amp; your “why”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4023360" y="3108960"/>
            <a:ext cx="320040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1960" y="3337560"/>
            <a:ext cx="777240" cy="77724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498" y="352409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38928" y="332841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Buddy companion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138928" y="369417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evolving creature that grows with you</a:t>
            </a:r>
            <a:endParaRPr lang="en-US" sz="1130" dirty="0"/>
          </a:p>
        </p:txBody>
      </p:sp>
      <p:sp>
        <p:nvSpPr>
          <p:cNvPr id="15" name="Shape 11"/>
          <p:cNvSpPr/>
          <p:nvPr/>
        </p:nvSpPr>
        <p:spPr>
          <a:xfrm>
            <a:off x="640080" y="4526280"/>
            <a:ext cx="320040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4754880"/>
            <a:ext cx="777240" cy="77724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18" y="494141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55648" y="47457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Meaningful support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755648" y="51114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chosen circle who cheer you on</a:t>
            </a:r>
            <a:endParaRPr lang="en-US" sz="1130" dirty="0"/>
          </a:p>
        </p:txBody>
      </p:sp>
      <p:sp>
        <p:nvSpPr>
          <p:cNvPr id="20" name="Shape 15"/>
          <p:cNvSpPr/>
          <p:nvPr/>
        </p:nvSpPr>
        <p:spPr>
          <a:xfrm>
            <a:off x="4023360" y="4526280"/>
            <a:ext cx="320040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251960" y="4754880"/>
            <a:ext cx="777240" cy="77724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498" y="4941418"/>
            <a:ext cx="404165" cy="40416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38928" y="47457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80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Intervention Engine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138928" y="51114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when — and when not — to nudge</a:t>
            </a:r>
            <a:endParaRPr lang="en-US" sz="1130" dirty="0"/>
          </a:p>
        </p:txBody>
      </p:sp>
      <p:sp>
        <p:nvSpPr>
          <p:cNvPr id="25" name="Text 19"/>
          <p:cNvSpPr/>
          <p:nvPr/>
        </p:nvSpPr>
        <p:spPr>
          <a:xfrm>
            <a:off x="640080" y="59893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A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Game-layer reinforcement </a:t>
            </a:r>
            <a:pPr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it enjoyable — never the point.</a:t>
            </a:r>
            <a:endParaRPr lang="en-US" sz="1250" dirty="0"/>
          </a:p>
        </p:txBody>
      </p:sp>
      <p:pic>
        <p:nvPicPr>
          <p:cNvPr id="26" name="Image 4" descr="/private/tmp/claude-501/-Users-guynoiman-Documents-PushApp/0b1108c4-6b2c-4410-8703-e7ff2feb1437/scratchpad/deck/screens/screen-0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0000">
            <a:off x="8915400" y="1234440"/>
            <a:ext cx="2206158" cy="4800600"/>
          </a:xfrm>
          <a:prstGeom prst="rect">
            <a:avLst/>
          </a:prstGeom>
          <a:effectLst>
            <a:outerShdw sx="100000" sy="100000" kx="0" ky="0" algn="bl" rotWithShape="0" blurRad="203200" dist="88900" dir="5400000">
              <a:srgbClr val="000000">
                <a:alpha val="22000"/>
              </a:srgbClr>
            </a:outerShdw>
          </a:effectLst>
        </p:spPr>
      </p:pic>
      <p:sp>
        <p:nvSpPr>
          <p:cNvPr id="27" name="Text 20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8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7A2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PRODUCT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place for the whole journey.</a:t>
            </a:r>
            <a:endParaRPr lang="en-US" sz="3000" dirty="0"/>
          </a:p>
        </p:txBody>
      </p:sp>
      <p:pic>
        <p:nvPicPr>
          <p:cNvPr id="4" name="Image 0" descr="/private/tmp/claude-501/-Users-guynoiman-Documents-PushApp/0b1108c4-6b2c-4410-8703-e7ff2feb1437/scratchpad/deck/screens/screen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65960"/>
            <a:ext cx="1785938" cy="3886200"/>
          </a:xfrm>
          <a:prstGeom prst="rect">
            <a:avLst/>
          </a:prstGeom>
          <a:effectLst>
            <a:outerShdw sx="100000" sy="100000" kx="0" ky="0" algn="bl" rotWithShape="0" blurRad="203200" dist="88900" dir="5400000">
              <a:srgbClr val="000000">
                <a:alpha val="2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11480" y="5989320"/>
            <a:ext cx="2243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>
                    <a:alpha val="92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 — what to do now</a:t>
            </a:r>
            <a:endParaRPr lang="en-US" sz="1250" dirty="0"/>
          </a:p>
        </p:txBody>
      </p:sp>
      <p:pic>
        <p:nvPicPr>
          <p:cNvPr id="6" name="Image 1" descr="/private/tmp/claude-501/-Users-guynoiman-Documents-PushApp/0b1108c4-6b2c-4410-8703-e7ff2feb1437/scratchpad/deck/screens/screen-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032" y="1965960"/>
            <a:ext cx="1785938" cy="3886200"/>
          </a:xfrm>
          <a:prstGeom prst="rect">
            <a:avLst/>
          </a:prstGeom>
          <a:effectLst>
            <a:outerShdw sx="100000" sy="100000" kx="0" ky="0" algn="bl" rotWithShape="0" blurRad="203200" dist="88900" dir="5400000">
              <a:srgbClr val="000000">
                <a:alpha val="22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3452432" y="5989320"/>
            <a:ext cx="2243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>
                    <a:alpha val="92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 — adopt a Journey</a:t>
            </a:r>
            <a:endParaRPr lang="en-US" sz="1250" dirty="0"/>
          </a:p>
        </p:txBody>
      </p:sp>
      <p:pic>
        <p:nvPicPr>
          <p:cNvPr id="8" name="Image 2" descr="/private/tmp/claude-501/-Users-guynoiman-Documents-PushApp/0b1108c4-6b2c-4410-8703-e7ff2feb1437/scratchpad/deck/screens/screen-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983" y="1965960"/>
            <a:ext cx="1785938" cy="3886200"/>
          </a:xfrm>
          <a:prstGeom prst="rect">
            <a:avLst/>
          </a:prstGeom>
          <a:effectLst>
            <a:outerShdw sx="100000" sy="100000" kx="0" ky="0" algn="bl" rotWithShape="0" blurRad="203200" dist="88900" dir="5400000">
              <a:srgbClr val="000000">
                <a:alpha val="22000"/>
              </a:srgbClr>
            </a:outerShdw>
          </a:effectLst>
        </p:spPr>
      </p:pic>
      <p:sp>
        <p:nvSpPr>
          <p:cNvPr id="9" name="Text 4"/>
          <p:cNvSpPr/>
          <p:nvPr/>
        </p:nvSpPr>
        <p:spPr>
          <a:xfrm>
            <a:off x="6493383" y="5989320"/>
            <a:ext cx="2243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>
                    <a:alpha val="92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Buddy — grows with you</a:t>
            </a:r>
            <a:endParaRPr lang="en-US" sz="1250" dirty="0"/>
          </a:p>
        </p:txBody>
      </p:sp>
      <p:pic>
        <p:nvPicPr>
          <p:cNvPr id="10" name="Image 3" descr="/private/tmp/claude-501/-Users-guynoiman-Documents-PushApp/0b1108c4-6b2c-4410-8703-e7ff2feb1437/scratchpad/deck/screens/screen-1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2935" y="1965960"/>
            <a:ext cx="1785938" cy="3886200"/>
          </a:xfrm>
          <a:prstGeom prst="rect">
            <a:avLst/>
          </a:prstGeom>
          <a:effectLst>
            <a:outerShdw sx="100000" sy="100000" kx="0" ky="0" algn="bl" rotWithShape="0" blurRad="203200" dist="88900" dir="5400000">
              <a:srgbClr val="000000">
                <a:alpha val="22000"/>
              </a:srgbClr>
            </a:outerShdw>
          </a:effectLst>
        </p:spPr>
      </p:pic>
      <p:sp>
        <p:nvSpPr>
          <p:cNvPr id="11" name="Text 5"/>
          <p:cNvSpPr/>
          <p:nvPr/>
        </p:nvSpPr>
        <p:spPr>
          <a:xfrm>
            <a:off x="9534335" y="5989320"/>
            <a:ext cx="2243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>
                    <a:alpha val="92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 — friends who cheer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79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loop that keeps people moving.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1965960" cy="251460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947672" y="2624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7E6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65860" y="2834640"/>
            <a:ext cx="914400" cy="91440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5316" y="305409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3886200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9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a Journey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86384" y="4270248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→ steps, rhythm, your “why”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2606040" y="3497580"/>
            <a:ext cx="2697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875788" y="2514600"/>
            <a:ext cx="1965960" cy="251460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183380" y="2624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7E6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401568" y="2834640"/>
            <a:ext cx="914400" cy="91440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3054096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003804" y="3886200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A80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in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022092" y="4270248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shows what to do now</a:t>
            </a:r>
            <a:endParaRPr lang="en-US" sz="1080" dirty="0"/>
          </a:p>
        </p:txBody>
      </p:sp>
      <p:sp>
        <p:nvSpPr>
          <p:cNvPr id="17" name="Text 13"/>
          <p:cNvSpPr/>
          <p:nvPr/>
        </p:nvSpPr>
        <p:spPr>
          <a:xfrm>
            <a:off x="4841748" y="3497580"/>
            <a:ext cx="2697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5111496" y="2514600"/>
            <a:ext cx="1965960" cy="251460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419088" y="2624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7E6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5637276" y="2834640"/>
            <a:ext cx="914400" cy="91440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32" y="3054096"/>
            <a:ext cx="475488" cy="4754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39512" y="3886200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C6F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Buddy reacts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5257800" y="4270248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evolves and celebrates</a:t>
            </a:r>
            <a:endParaRPr lang="en-US" sz="1080" dirty="0"/>
          </a:p>
        </p:txBody>
      </p:sp>
      <p:sp>
        <p:nvSpPr>
          <p:cNvPr id="24" name="Text 19"/>
          <p:cNvSpPr/>
          <p:nvPr/>
        </p:nvSpPr>
        <p:spPr>
          <a:xfrm>
            <a:off x="7077456" y="3497580"/>
            <a:ext cx="2697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7347204" y="2514600"/>
            <a:ext cx="1965960" cy="251460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8654796" y="2624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7E6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7872984" y="2834640"/>
            <a:ext cx="914400" cy="91440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3054096"/>
            <a:ext cx="475488" cy="47548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75220" y="3886200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B6F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Allies cheer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7493508" y="4270248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circle encourages you</a:t>
            </a:r>
            <a:endParaRPr lang="en-US" sz="1080" dirty="0"/>
          </a:p>
        </p:txBody>
      </p:sp>
      <p:sp>
        <p:nvSpPr>
          <p:cNvPr id="31" name="Text 25"/>
          <p:cNvSpPr/>
          <p:nvPr/>
        </p:nvSpPr>
        <p:spPr>
          <a:xfrm>
            <a:off x="9313164" y="3497580"/>
            <a:ext cx="2697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9582912" y="2514600"/>
            <a:ext cx="1965960" cy="251460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10890504" y="2624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7E6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10108692" y="2834640"/>
            <a:ext cx="914400" cy="91440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8148" y="3054096"/>
            <a:ext cx="475488" cy="47548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710928" y="3886200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progress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9729216" y="4270248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become who you chose to be</a:t>
            </a:r>
            <a:endParaRPr lang="en-US" sz="1080" dirty="0"/>
          </a:p>
        </p:txBody>
      </p:sp>
      <p:sp>
        <p:nvSpPr>
          <p:cNvPr id="38" name="Shape 31"/>
          <p:cNvSpPr/>
          <p:nvPr/>
        </p:nvSpPr>
        <p:spPr>
          <a:xfrm>
            <a:off x="640080" y="5623560"/>
            <a:ext cx="10908792" cy="658368"/>
          </a:xfrm>
          <a:prstGeom prst="roundRect">
            <a:avLst>
              <a:gd name="adj" fmla="val 16667"/>
            </a:avLst>
          </a:prstGeom>
          <a:solidFill>
            <a:srgbClr val="FBF3E9"/>
          </a:solidFill>
          <a:ln/>
        </p:spPr>
      </p:sp>
      <p:sp>
        <p:nvSpPr>
          <p:cNvPr id="39" name="Text 32"/>
          <p:cNvSpPr/>
          <p:nvPr/>
        </p:nvSpPr>
        <p:spPr>
          <a:xfrm>
            <a:off x="914400" y="5623560"/>
            <a:ext cx="10360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compounds:  </a:t>
            </a:r>
            <a:pPr indent="0" marL="0">
              <a:buNone/>
            </a:pPr>
            <a:r>
              <a:rPr lang="en-US" sz="135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 deepens the Buddy bond, the social ties, and the belief “I can keep going.”</a:t>
            </a:r>
            <a:endParaRPr lang="en-US" sz="1350" dirty="0"/>
          </a:p>
        </p:txBody>
      </p:sp>
      <p:sp>
        <p:nvSpPr>
          <p:cNvPr id="40" name="Text 33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41" name="Text 34"/>
          <p:cNvSpPr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8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023360"/>
            <a:ext cx="4572000" cy="4572000"/>
          </a:xfrm>
          <a:prstGeom prst="ellipse">
            <a:avLst/>
          </a:prstGeom>
          <a:solidFill>
            <a:srgbClr val="EC6F9C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7A2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STICKS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Buddy.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“an AI assistant,” users build a relationship with a companion that hatches, grows and celebrates with them. Identity, attachment and consistency — in one character. Over time, Buddy becomes PushApp.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E7A22E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is reinforcement — never the reward. 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reward never changes: “I actually became the person I wanted to be.”</a:t>
            </a:r>
            <a:endParaRPr lang="en-US" sz="1450" dirty="0"/>
          </a:p>
        </p:txBody>
      </p:sp>
      <p:pic>
        <p:nvPicPr>
          <p:cNvPr id="7" name="Image 0" descr="/private/tmp/claude-501/-Users-guynoiman-Documents-PushApp/0b1108c4-6b2c-4410-8703-e7ff2feb1437/scratchpad/deck/screens/screen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80000">
            <a:off x="7086600" y="868680"/>
            <a:ext cx="2353235" cy="5120640"/>
          </a:xfrm>
          <a:prstGeom prst="rect">
            <a:avLst/>
          </a:prstGeom>
          <a:effectLst>
            <a:outerShdw sx="100000" sy="100000" kx="0" ky="0" algn="bl" rotWithShape="0" blurRad="203200" dist="88900" dir="5400000">
              <a:srgbClr val="000000">
                <a:alpha val="22000"/>
              </a:srgbClr>
            </a:outerShdw>
          </a:effectLst>
        </p:spPr>
      </p:pic>
      <p:pic>
        <p:nvPicPr>
          <p:cNvPr id="8" name="Image 1" descr="/private/tmp/claude-501/-Users-guynoiman-Documents-PushApp/0b1108c4-6b2c-4410-8703-e7ff2feb1437/scratchpad/deck/screens/screen-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">
            <a:off x="9646920" y="1325880"/>
            <a:ext cx="2248180" cy="4892040"/>
          </a:xfrm>
          <a:prstGeom prst="rect">
            <a:avLst/>
          </a:prstGeom>
          <a:effectLst>
            <a:outerShdw sx="100000" sy="100000" kx="0" ky="0" algn="bl" rotWithShape="0" blurRad="203200" dist="88900" dir="5400000">
              <a:srgbClr val="000000">
                <a:alpha val="22000"/>
              </a:srgb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 WIN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replace the whole workaround.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349240" cy="3794760"/>
          </a:xfrm>
          <a:prstGeom prst="roundRect">
            <a:avLst>
              <a:gd name="adj" fmla="val 38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6B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 people improvise with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313639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31089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notes &amp; calendars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70332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89888" y="36758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trackers (“did you today?”)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27024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89888" y="424281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for accountability</a:t>
            </a:r>
            <a:endParaRPr lang="en-US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837176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89888" y="480974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for advice &amp; planning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960120" y="5532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Fragmented. Nothing owns your success.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6355080" y="2331720"/>
            <a:ext cx="5468112" cy="3794760"/>
          </a:xfrm>
          <a:prstGeom prst="roundRect">
            <a:avLst>
              <a:gd name="adj" fmla="val 3855"/>
            </a:avLst>
          </a:prstGeom>
          <a:solidFill>
            <a:srgbClr val="281F44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67512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A2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 is the one system</a:t>
            </a:r>
            <a:endParaRPr lang="en-US" sz="15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3127248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114032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Journey-based growth  </a:t>
            </a:r>
            <a:pPr indent="0" marL="0">
              <a:buNone/>
            </a:pPr>
            <a:r>
              <a:rPr lang="en-US" sz="1300" dirty="0">
                <a:solidFill>
                  <a:srgbClr val="FFFFFF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sustained change, not checkboxes</a:t>
            </a:r>
            <a:endParaRPr lang="en-US" sz="13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552" y="3694176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114032" y="36758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support by design  </a:t>
            </a:r>
            <a:pPr indent="0" marL="0">
              <a:buNone/>
            </a:pPr>
            <a:r>
              <a:rPr lang="en-US" sz="1300" dirty="0">
                <a:solidFill>
                  <a:srgbClr val="FFFFFF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asking for help made easy</a:t>
            </a:r>
            <a:endParaRPr lang="en-US" sz="13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2552" y="4261104"/>
            <a:ext cx="274320" cy="27432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114032" y="424281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success metrics  </a:t>
            </a:r>
            <a:pPr indent="0" marL="0">
              <a:buNone/>
            </a:pPr>
            <a:r>
              <a:rPr lang="en-US" sz="1300" dirty="0">
                <a:solidFill>
                  <a:srgbClr val="FFFFFF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progress, not app-time</a:t>
            </a:r>
            <a:endParaRPr lang="en-US" sz="13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2552" y="4828032"/>
            <a:ext cx="274320" cy="27432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114032" y="48097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future growth marketplace  </a:t>
            </a:r>
            <a:pPr indent="0" marL="0">
              <a:buNone/>
            </a:pPr>
            <a:r>
              <a:rPr lang="en-US" sz="1300" dirty="0">
                <a:solidFill>
                  <a:srgbClr val="FFFFFF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creators, coaches &amp; brands</a:t>
            </a:r>
            <a:endParaRPr lang="en-US" sz="1300" dirty="0"/>
          </a:p>
        </p:txBody>
      </p:sp>
      <p:sp>
        <p:nvSpPr>
          <p:cNvPr id="25" name="Text 15"/>
          <p:cNvSpPr/>
          <p:nvPr/>
        </p:nvSpPr>
        <p:spPr>
          <a:xfrm>
            <a:off x="6675120" y="5532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7A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users trust to maximize their probability of success.</a:t>
            </a:r>
            <a:endParaRPr lang="en-US" sz="1250" dirty="0"/>
          </a:p>
        </p:txBody>
      </p:sp>
      <p:sp>
        <p:nvSpPr>
          <p:cNvPr id="26" name="Text 16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27" name="Text 17"/>
          <p:cNvSpPr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79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MOAT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completed Journey makes</a:t>
            </a:r>
            <a:endParaRPr lang="en-US" sz="2800" dirty="0"/>
          </a:p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next one more likely.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advantage isn't only AI — it's a proprietary understanding of what actually helps different people finish. Data others can't buy, only earn.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49300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3474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motivates each kind of person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59936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8992" y="40416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timing and nudges work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26864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78992" y="460857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Journey structures succeed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193792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78992" y="517550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Ally relationships drive outcomes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7818120" y="1737360"/>
            <a:ext cx="3749040" cy="3749040"/>
          </a:xfrm>
          <a:prstGeom prst="ellipse">
            <a:avLst/>
          </a:prstGeom>
          <a:solidFill>
            <a:srgbClr val="179A9C">
              <a:alpha val="12000"/>
            </a:srgbClr>
          </a:solidFill>
          <a:ln/>
        </p:spPr>
      </p:sp>
      <p:sp>
        <p:nvSpPr>
          <p:cNvPr id="14" name="Shape 8"/>
          <p:cNvSpPr/>
          <p:nvPr/>
        </p:nvSpPr>
        <p:spPr>
          <a:xfrm>
            <a:off x="8915400" y="2834640"/>
            <a:ext cx="1554480" cy="1554480"/>
          </a:xfrm>
          <a:prstGeom prst="ellipse">
            <a:avLst/>
          </a:prstGeom>
          <a:solidFill>
            <a:srgbClr val="0E5F63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8475" y="3207715"/>
            <a:ext cx="808330" cy="80833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915400" y="1655064"/>
            <a:ext cx="155448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3000"/>
              </a:srgbClr>
            </a:outerShdw>
          </a:effectLst>
        </p:spPr>
      </p:sp>
      <p:sp>
        <p:nvSpPr>
          <p:cNvPr id="17" name="Text 10"/>
          <p:cNvSpPr/>
          <p:nvPr/>
        </p:nvSpPr>
        <p:spPr>
          <a:xfrm>
            <a:off x="8915400" y="1655064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users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10277457" y="4014216"/>
            <a:ext cx="155448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3000"/>
              </a:srgbClr>
            </a:outerShdw>
          </a:effectLst>
        </p:spPr>
      </p:sp>
      <p:sp>
        <p:nvSpPr>
          <p:cNvPr id="19" name="Text 12"/>
          <p:cNvSpPr/>
          <p:nvPr/>
        </p:nvSpPr>
        <p:spPr>
          <a:xfrm>
            <a:off x="10277457" y="4014216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8B6F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completed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8B6F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Journeys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7553343" y="4014216"/>
            <a:ext cx="155448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3000"/>
              </a:srgbClr>
            </a:outerShdw>
          </a:effectLst>
        </p:spPr>
      </p:sp>
      <p:sp>
        <p:nvSpPr>
          <p:cNvPr id="21" name="Text 14"/>
          <p:cNvSpPr/>
          <p:nvPr/>
        </p:nvSpPr>
        <p:spPr>
          <a:xfrm>
            <a:off x="7553343" y="4014216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4A80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Smarter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4A80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Interventions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F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focused. Expand into a</a:t>
            </a:r>
            <a:endParaRPr lang="en-US" sz="2800" dirty="0"/>
          </a:p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multi-vertical growth platform.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27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Beachhead: 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building habits &amp; goals — reached via short-form social, with sharing as the viral loop.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32863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19125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7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self-development   </a:t>
            </a:r>
            <a:pPr indent="0" marL="0">
              <a:buNone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675888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4" y="3807562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371246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9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  </a:t>
            </a:r>
            <a:pPr indent="0" marL="0">
              <a:buNone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between sessions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4197096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4328770"/>
            <a:ext cx="285293" cy="2852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423367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8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wellbeing   </a:t>
            </a:r>
            <a:pPr indent="0" marL="0">
              <a:buNone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&amp; benefits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40080" y="4718304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4" y="4849978"/>
            <a:ext cx="285293" cy="28529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47548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  </a:t>
            </a:r>
            <a:pPr indent="0" marL="0">
              <a:buNone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&amp; institutions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40080" y="5239512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4" y="5371186"/>
            <a:ext cx="285293" cy="28529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527608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6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adherence   </a:t>
            </a:r>
            <a:pPr indent="0" marL="0">
              <a:buNone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&amp; outcomes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7589520" y="1645920"/>
            <a:ext cx="4023360" cy="4023360"/>
          </a:xfrm>
          <a:prstGeom prst="ellipse">
            <a:avLst/>
          </a:prstGeom>
          <a:solidFill>
            <a:srgbClr val="EC6F9C">
              <a:alpha val="14000"/>
            </a:srgbClr>
          </a:solidFill>
          <a:ln/>
        </p:spPr>
      </p:sp>
      <p:sp>
        <p:nvSpPr>
          <p:cNvPr id="21" name="Shape 14"/>
          <p:cNvSpPr/>
          <p:nvPr/>
        </p:nvSpPr>
        <p:spPr>
          <a:xfrm>
            <a:off x="8001000" y="2057400"/>
            <a:ext cx="3200400" cy="3200400"/>
          </a:xfrm>
          <a:prstGeom prst="ellipse">
            <a:avLst/>
          </a:prstGeom>
          <a:solidFill>
            <a:srgbClr val="8B6FD6">
              <a:alpha val="18000"/>
            </a:srgbClr>
          </a:solidFill>
          <a:ln/>
        </p:spPr>
      </p:sp>
      <p:sp>
        <p:nvSpPr>
          <p:cNvPr id="22" name="Shape 15"/>
          <p:cNvSpPr/>
          <p:nvPr/>
        </p:nvSpPr>
        <p:spPr>
          <a:xfrm>
            <a:off x="8412480" y="2468880"/>
            <a:ext cx="2377440" cy="2377440"/>
          </a:xfrm>
          <a:prstGeom prst="ellipse">
            <a:avLst/>
          </a:prstGeom>
          <a:solidFill>
            <a:srgbClr val="4A80E0">
              <a:alpha val="26000"/>
            </a:srgbClr>
          </a:solidFill>
          <a:ln/>
        </p:spPr>
      </p:sp>
      <p:sp>
        <p:nvSpPr>
          <p:cNvPr id="23" name="Shape 16"/>
          <p:cNvSpPr/>
          <p:nvPr/>
        </p:nvSpPr>
        <p:spPr>
          <a:xfrm>
            <a:off x="8823960" y="2880360"/>
            <a:ext cx="1554480" cy="1554480"/>
          </a:xfrm>
          <a:prstGeom prst="ellipse">
            <a:avLst/>
          </a:prstGeom>
          <a:solidFill>
            <a:srgbClr val="179A9C">
              <a:alpha val="38000"/>
            </a:srgbClr>
          </a:solidFill>
          <a:ln/>
        </p:spPr>
      </p:sp>
      <p:sp>
        <p:nvSpPr>
          <p:cNvPr id="24" name="Shape 17"/>
          <p:cNvSpPr/>
          <p:nvPr/>
        </p:nvSpPr>
        <p:spPr>
          <a:xfrm>
            <a:off x="9166860" y="3223260"/>
            <a:ext cx="868680" cy="868680"/>
          </a:xfrm>
          <a:prstGeom prst="ellipse">
            <a:avLst/>
          </a:prstGeom>
          <a:solidFill>
            <a:srgbClr val="F2765E">
              <a:alpha val="80000"/>
            </a:srgbClr>
          </a:solidFill>
          <a:ln/>
        </p:spPr>
      </p:sp>
      <p:sp>
        <p:nvSpPr>
          <p:cNvPr id="25" name="Text 18"/>
          <p:cNvSpPr/>
          <p:nvPr/>
        </p:nvSpPr>
        <p:spPr>
          <a:xfrm>
            <a:off x="9098280" y="3246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</a:t>
            </a:r>
            <a:endParaRPr lang="en-US" sz="12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40080" y="5870448"/>
            <a:ext cx="6446520" cy="402336"/>
          </a:xfrm>
          <a:prstGeom prst="roundRect">
            <a:avLst>
              <a:gd name="adj" fmla="val 18182"/>
            </a:avLst>
          </a:prstGeom>
          <a:solidFill>
            <a:srgbClr val="FBF3E9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70448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/ SAM / SOM sizing is an explicit next work item — flagged, not hand-waved.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7A2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portfolio of streams — not a single bet.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growth is always free. Monetization reinforces progress and turns on across the roadmap.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103120" cy="25146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57300" y="2807208"/>
            <a:ext cx="868680" cy="86868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5783" y="3015691"/>
            <a:ext cx="451714" cy="45171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307592" y="3776472"/>
            <a:ext cx="768096" cy="329184"/>
          </a:xfrm>
          <a:prstGeom prst="roundRect">
            <a:avLst>
              <a:gd name="adj" fmla="val 50000"/>
            </a:avLst>
          </a:prstGeom>
          <a:solidFill>
            <a:srgbClr val="E7A22E"/>
          </a:solidFill>
          <a:ln/>
        </p:spPr>
      </p:sp>
      <p:sp>
        <p:nvSpPr>
          <p:cNvPr id="9" name="Text 6"/>
          <p:cNvSpPr/>
          <p:nvPr/>
        </p:nvSpPr>
        <p:spPr>
          <a:xfrm>
            <a:off x="1307592" y="3776472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49808" y="42062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A2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 economy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86384" y="45811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Coins, cosmetics, Buddy items</a:t>
            </a:r>
            <a:endParaRPr lang="en-US" sz="1030" dirty="0"/>
          </a:p>
        </p:txBody>
      </p:sp>
      <p:sp>
        <p:nvSpPr>
          <p:cNvPr id="12" name="Shape 9"/>
          <p:cNvSpPr/>
          <p:nvPr/>
        </p:nvSpPr>
        <p:spPr>
          <a:xfrm>
            <a:off x="2916936" y="2514600"/>
            <a:ext cx="2103120" cy="25146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34156" y="2807208"/>
            <a:ext cx="868680" cy="86868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639" y="3015691"/>
            <a:ext cx="451714" cy="45171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584448" y="3776472"/>
            <a:ext cx="768096" cy="329184"/>
          </a:xfrm>
          <a:prstGeom prst="roundRect">
            <a:avLst>
              <a:gd name="adj" fmla="val 50000"/>
            </a:avLst>
          </a:prstGeom>
          <a:solidFill>
            <a:srgbClr val="8B6FD6"/>
          </a:solidFill>
          <a:ln/>
        </p:spPr>
      </p:sp>
      <p:sp>
        <p:nvSpPr>
          <p:cNvPr id="16" name="Text 12"/>
          <p:cNvSpPr/>
          <p:nvPr/>
        </p:nvSpPr>
        <p:spPr>
          <a:xfrm>
            <a:off x="3584448" y="3776472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V3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026664" y="42062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6F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Consumer subscription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063240" y="45811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planning, analytics, premium</a:t>
            </a:r>
            <a:endParaRPr lang="en-US" sz="1030" dirty="0"/>
          </a:p>
        </p:txBody>
      </p:sp>
      <p:sp>
        <p:nvSpPr>
          <p:cNvPr id="19" name="Shape 15"/>
          <p:cNvSpPr/>
          <p:nvPr/>
        </p:nvSpPr>
        <p:spPr>
          <a:xfrm>
            <a:off x="5193792" y="2514600"/>
            <a:ext cx="2103120" cy="25146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811012" y="2807208"/>
            <a:ext cx="868680" cy="86868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495" y="3015691"/>
            <a:ext cx="451714" cy="45171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861304" y="3776472"/>
            <a:ext cx="768096" cy="329184"/>
          </a:xfrm>
          <a:prstGeom prst="roundRect">
            <a:avLst>
              <a:gd name="adj" fmla="val 50000"/>
            </a:avLst>
          </a:prstGeom>
          <a:solidFill>
            <a:srgbClr val="F2765E"/>
          </a:solidFill>
          <a:ln/>
        </p:spPr>
      </p:sp>
      <p:sp>
        <p:nvSpPr>
          <p:cNvPr id="23" name="Text 18"/>
          <p:cNvSpPr/>
          <p:nvPr/>
        </p:nvSpPr>
        <p:spPr>
          <a:xfrm>
            <a:off x="5861304" y="3776472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V4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5303520" y="42062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Creator marketplace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5340096" y="45811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Journeys + revenue share</a:t>
            </a:r>
            <a:endParaRPr lang="en-US" sz="1030" dirty="0"/>
          </a:p>
        </p:txBody>
      </p:sp>
      <p:sp>
        <p:nvSpPr>
          <p:cNvPr id="26" name="Shape 21"/>
          <p:cNvSpPr/>
          <p:nvPr/>
        </p:nvSpPr>
        <p:spPr>
          <a:xfrm>
            <a:off x="7470648" y="2514600"/>
            <a:ext cx="2103120" cy="25146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087868" y="2807208"/>
            <a:ext cx="868680" cy="86868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6351" y="3015691"/>
            <a:ext cx="451714" cy="451714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8138160" y="3776472"/>
            <a:ext cx="768096" cy="329184"/>
          </a:xfrm>
          <a:prstGeom prst="roundRect">
            <a:avLst>
              <a:gd name="adj" fmla="val 50000"/>
            </a:avLst>
          </a:prstGeom>
          <a:solidFill>
            <a:srgbClr val="4A80E0"/>
          </a:solidFill>
          <a:ln/>
        </p:spPr>
      </p:sp>
      <p:sp>
        <p:nvSpPr>
          <p:cNvPr id="30" name="Text 24"/>
          <p:cNvSpPr/>
          <p:nvPr/>
        </p:nvSpPr>
        <p:spPr>
          <a:xfrm>
            <a:off x="8138160" y="3776472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V4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7580376" y="42062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80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Journeys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7616952" y="45811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fee · rev-share</a:t>
            </a:r>
            <a:endParaRPr lang="en-US" sz="1030" dirty="0"/>
          </a:p>
        </p:txBody>
      </p:sp>
      <p:sp>
        <p:nvSpPr>
          <p:cNvPr id="33" name="Shape 27"/>
          <p:cNvSpPr/>
          <p:nvPr/>
        </p:nvSpPr>
        <p:spPr>
          <a:xfrm>
            <a:off x="9747504" y="2514600"/>
            <a:ext cx="2103120" cy="25146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10364724" y="2807208"/>
            <a:ext cx="868680" cy="86868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3207" y="3015691"/>
            <a:ext cx="451714" cy="451714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10415016" y="3776472"/>
            <a:ext cx="768096" cy="329184"/>
          </a:xfrm>
          <a:prstGeom prst="roundRect">
            <a:avLst>
              <a:gd name="adj" fmla="val 50000"/>
            </a:avLst>
          </a:prstGeom>
          <a:solidFill>
            <a:srgbClr val="179A9C"/>
          </a:solidFill>
          <a:ln/>
        </p:spPr>
      </p:sp>
      <p:sp>
        <p:nvSpPr>
          <p:cNvPr id="37" name="Text 30"/>
          <p:cNvSpPr/>
          <p:nvPr/>
        </p:nvSpPr>
        <p:spPr>
          <a:xfrm>
            <a:off x="10415016" y="3776472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V3–V4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9857232" y="42062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9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Coach / pro tier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9893808" y="45811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now · marketplace later</a:t>
            </a:r>
            <a:endParaRPr lang="en-US" sz="1030" dirty="0"/>
          </a:p>
        </p:txBody>
      </p:sp>
      <p:sp>
        <p:nvSpPr>
          <p:cNvPr id="40" name="Shape 33"/>
          <p:cNvSpPr/>
          <p:nvPr/>
        </p:nvSpPr>
        <p:spPr>
          <a:xfrm>
            <a:off x="640080" y="5349240"/>
            <a:ext cx="10908792" cy="685800"/>
          </a:xfrm>
          <a:prstGeom prst="roundRect">
            <a:avLst>
              <a:gd name="adj" fmla="val 16000"/>
            </a:avLst>
          </a:prstGeom>
          <a:solidFill>
            <a:srgbClr val="281F44"/>
          </a:solidFill>
          <a:ln/>
        </p:spPr>
      </p:sp>
      <p:sp>
        <p:nvSpPr>
          <p:cNvPr id="41" name="Text 34"/>
          <p:cNvSpPr/>
          <p:nvPr/>
        </p:nvSpPr>
        <p:spPr>
          <a:xfrm>
            <a:off x="960120" y="5349240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A22E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revenue leans on IAP + subscription.  </a:t>
            </a:r>
            <a:pPr indent="0" marL="0">
              <a:buNone/>
            </a:pPr>
            <a:r>
              <a:rPr lang="en-US" sz="1300" dirty="0">
                <a:solidFill>
                  <a:srgbClr val="FFFFFF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creator &amp; business marketplaces are the later scaling engine.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43" name="Text 36"/>
          <p:cNvSpPr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versions, one escalating proof.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651760" cy="342900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468880"/>
            <a:ext cx="777240" cy="77724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65541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505456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79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 · POC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3364992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Does social + Buddy drive persistence?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6112" y="3950208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Thinnest build: Journey loop, evolving Buddy, Allies, coins, reminders.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896112" y="5056632"/>
            <a:ext cx="2139696" cy="384048"/>
          </a:xfrm>
          <a:prstGeom prst="roundRect">
            <a:avLst>
              <a:gd name="adj" fmla="val 23810"/>
            </a:avLst>
          </a:prstGeom>
          <a:solidFill>
            <a:srgbClr val="FBF3E9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505663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79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behavior change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465576" y="2194560"/>
            <a:ext cx="2651760" cy="342900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21608" y="2468880"/>
            <a:ext cx="777240" cy="77724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146" y="2655418"/>
            <a:ext cx="404165" cy="40416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62856" y="2505456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 · MVP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721608" y="3364992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 solo, keep for months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721608" y="3950208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library, onboarding (egg→hatch), full Journey types, light AI, Grace Tokens.</a:t>
            </a:r>
            <a:endParaRPr lang="en-US" sz="1130" dirty="0"/>
          </a:p>
        </p:txBody>
      </p:sp>
      <p:sp>
        <p:nvSpPr>
          <p:cNvPr id="18" name="Shape 14"/>
          <p:cNvSpPr/>
          <p:nvPr/>
        </p:nvSpPr>
        <p:spPr>
          <a:xfrm>
            <a:off x="3721608" y="5056632"/>
            <a:ext cx="2139696" cy="384048"/>
          </a:xfrm>
          <a:prstGeom prst="roundRect">
            <a:avLst>
              <a:gd name="adj" fmla="val 23810"/>
            </a:avLst>
          </a:prstGeom>
          <a:solidFill>
            <a:srgbClr val="FBF3E9"/>
          </a:solidFill>
          <a:ln/>
        </p:spPr>
      </p:sp>
      <p:sp>
        <p:nvSpPr>
          <p:cNvPr id="19" name="Text 15"/>
          <p:cNvSpPr/>
          <p:nvPr/>
        </p:nvSpPr>
        <p:spPr>
          <a:xfrm>
            <a:off x="3721608" y="505663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27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behavior change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291072" y="2194560"/>
            <a:ext cx="2651760" cy="342900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547104" y="2468880"/>
            <a:ext cx="777240" cy="77724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2" y="2655418"/>
            <a:ext cx="404165" cy="40416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388352" y="2505456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E7A2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V3 · Commercial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547104" y="3364992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first paid version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547104" y="3950208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Engine, weekly planning, AI drafting, Achievements, subscription.</a:t>
            </a:r>
            <a:endParaRPr lang="en-US" sz="1130" dirty="0"/>
          </a:p>
        </p:txBody>
      </p:sp>
      <p:sp>
        <p:nvSpPr>
          <p:cNvPr id="26" name="Shape 21"/>
          <p:cNvSpPr/>
          <p:nvPr/>
        </p:nvSpPr>
        <p:spPr>
          <a:xfrm>
            <a:off x="6547104" y="5056632"/>
            <a:ext cx="2139696" cy="384048"/>
          </a:xfrm>
          <a:prstGeom prst="roundRect">
            <a:avLst>
              <a:gd name="adj" fmla="val 23810"/>
            </a:avLst>
          </a:prstGeom>
          <a:solidFill>
            <a:srgbClr val="FBF3E9"/>
          </a:solidFill>
          <a:ln/>
        </p:spPr>
      </p:sp>
      <p:sp>
        <p:nvSpPr>
          <p:cNvPr id="27" name="Text 22"/>
          <p:cNvSpPr/>
          <p:nvPr/>
        </p:nvSpPr>
        <p:spPr>
          <a:xfrm>
            <a:off x="6547104" y="505663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7A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we can charge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9116568" y="2194560"/>
            <a:ext cx="2651760" cy="342900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372600" y="2468880"/>
            <a:ext cx="777240" cy="77724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9138" y="2655418"/>
            <a:ext cx="404165" cy="40416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213848" y="2505456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8B6F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V4 · Scale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9372600" y="3364992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platform &amp; vision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9372600" y="3950208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&amp; business marketplaces, Rich Step Types, Buddy voice, full JITAI.</a:t>
            </a:r>
            <a:endParaRPr lang="en-US" sz="1130" dirty="0"/>
          </a:p>
        </p:txBody>
      </p:sp>
      <p:sp>
        <p:nvSpPr>
          <p:cNvPr id="34" name="Shape 28"/>
          <p:cNvSpPr/>
          <p:nvPr/>
        </p:nvSpPr>
        <p:spPr>
          <a:xfrm>
            <a:off x="9372600" y="5056632"/>
            <a:ext cx="2139696" cy="384048"/>
          </a:xfrm>
          <a:prstGeom prst="roundRect">
            <a:avLst>
              <a:gd name="adj" fmla="val 23810"/>
            </a:avLst>
          </a:prstGeom>
          <a:solidFill>
            <a:srgbClr val="FBF3E9"/>
          </a:solidFill>
          <a:ln/>
        </p:spPr>
      </p:sp>
      <p:sp>
        <p:nvSpPr>
          <p:cNvPr id="35" name="Text 29"/>
          <p:cNvSpPr/>
          <p:nvPr/>
        </p:nvSpPr>
        <p:spPr>
          <a:xfrm>
            <a:off x="9372600" y="505663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platform + moat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C6F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 built into the product.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through short-form social, with sharing and friend invitations as the primary viral loop — then expand through creators and coaches who bring their own audiences.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37892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69417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6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social   </a:t>
            </a:r>
            <a:pPr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&amp; TikTok creators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4" y="433791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424281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8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Journey sharing   </a:t>
            </a:r>
            <a:pPr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is inherently shareable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475488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488655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479145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9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invitations   </a:t>
            </a:r>
            <a:pPr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Support Circle is the loop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40080" y="530352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4" y="5435194"/>
            <a:ext cx="285293" cy="28529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53400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7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&amp; coaches   </a:t>
            </a:r>
            <a:pPr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existing audiences</a:t>
            </a:r>
            <a:endParaRPr lang="en-US" sz="1350" dirty="0"/>
          </a:p>
        </p:txBody>
      </p:sp>
      <p:pic>
        <p:nvPicPr>
          <p:cNvPr id="17" name="Image 4" descr="/private/tmp/claude-501/-Users-guynoiman-Documents-PushApp/0b1108c4-6b2c-4410-8703-e7ff2feb1437/scratchpad/deck/screens/screen-0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0000">
            <a:off x="7635240" y="1280160"/>
            <a:ext cx="2227169" cy="4846320"/>
          </a:xfrm>
          <a:prstGeom prst="rect">
            <a:avLst/>
          </a:prstGeom>
          <a:effectLst>
            <a:outerShdw sx="100000" sy="100000" kx="0" ky="0" algn="bl" rotWithShape="0" blurRad="203200" dist="88900" dir="5400000">
              <a:srgbClr val="000000">
                <a:alpha val="22000"/>
              </a:srgbClr>
            </a:outerShdw>
          </a:effectLst>
        </p:spPr>
      </p:pic>
      <p:sp>
        <p:nvSpPr>
          <p:cNvPr id="18" name="Text 1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US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by someone who lived the problem.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246120" cy="3840480"/>
          </a:xfrm>
          <a:prstGeom prst="roundRect">
            <a:avLst>
              <a:gd name="adj" fmla="val 4507"/>
            </a:avLst>
          </a:prstGeom>
          <a:solidFill>
            <a:srgbClr val="281F44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260604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114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4526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A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PushApp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52120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Imagine. Dare. Achieve.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480560" y="22860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story isn't “one big success.”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480560" y="2670048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opposite — he repeatedly felt how hard it is to stay on the path: knowing what he wanted, sometimes starting, then feeling life pull him back.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480560" y="358444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always needed support.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480560" y="3968496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change stuck, it took structure, accountability and encouragement. Millions live exactly this struggle.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480560" y="4882896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 is the system he never had.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480560" y="5266944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companion, a circle and a structure that raise anyone's probability of becoming who they choose to be.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8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5486400" cy="5486400"/>
          </a:xfrm>
          <a:prstGeom prst="ellipse">
            <a:avLst/>
          </a:prstGeom>
          <a:solidFill>
            <a:srgbClr val="8B6FD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3657600"/>
            <a:ext cx="4754880" cy="4754880"/>
          </a:xfrm>
          <a:prstGeom prst="ellipse">
            <a:avLst/>
          </a:prstGeom>
          <a:solidFill>
            <a:srgbClr val="F2765E">
              <a:alpha val="14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103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7A2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MAGIC MOMENT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40080" y="251460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“I didn't think I could stay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consistent… but I actually did.”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4389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first moment of self-belief is the product. Everything we build exists to make it happen more often, for more people.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5394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A2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Imagine.</a:t>
            </a:r>
            <a:pPr indent="0" marL="0">
              <a:buNone/>
            </a:pPr>
            <a:r>
              <a:rPr lang="en-US" sz="24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Dare.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Achieve.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40080" y="62362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PushApp · Helping people become who they choose to be.</a:t>
            </a:r>
            <a:endParaRPr lang="en-US" sz="1250" dirty="0"/>
          </a:p>
        </p:txBody>
      </p:sp>
      <p:pic>
        <p:nvPicPr>
          <p:cNvPr id="10" name="Image 1" descr="/private/tmp/claude-501/-Users-guynoiman-Documents-PushApp/0b1108c4-6b2c-4410-8703-e7ff2feb1437/scratchpad/deck/screens/screen-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00000">
            <a:off x="9418320" y="1371600"/>
            <a:ext cx="2227169" cy="4846320"/>
          </a:xfrm>
          <a:prstGeom prst="rect">
            <a:avLst/>
          </a:prstGeom>
          <a:effectLst>
            <a:outerShdw sx="100000" sy="100000" kx="0" ky="0" algn="bl" rotWithShape="0" blurRad="203200" dist="88900" dir="5400000">
              <a:srgbClr val="000000">
                <a:alpha val="22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PushApp — Investor Deck</dc:title>
  <dc:subject>PptxGenJS Presentation</dc:subject>
  <dc:creator>PushApp</dc:creator>
  <cp:lastModifiedBy>PushApp</cp:lastModifiedBy>
  <cp:revision>1</cp:revision>
  <dcterms:created xsi:type="dcterms:W3CDTF">2026-07-08T08:06:56Z</dcterms:created>
  <dcterms:modified xsi:type="dcterms:W3CDTF">2026-07-08T08:06:56Z</dcterms:modified>
</cp:coreProperties>
</file>