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79A9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291840" cy="3291840"/>
          </a:xfrm>
          <a:prstGeom prst="ellipse">
            <a:avLst/>
          </a:prstGeom>
          <a:solidFill>
            <a:srgbClr val="F2765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1051560" cy="1051560"/>
          </a:xfrm>
          <a:prstGeom prst="ellipse">
            <a:avLst/>
          </a:prstGeom>
          <a:solidFill>
            <a:srgbClr val="F2765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296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961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Helping people become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they choose to be.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living by default.  Start living by design.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5257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Imagine.</a:t>
            </a:r>
            <a:pPr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Dare.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Achieve.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· 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Knowing what you want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isn't the hard part.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rarely fail because they don't know what they want. 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because lasting personal change is hard to sustain — alone.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whirlpool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lift your head, decide to change, start moving forward — and the current slowly pulls you back to where you began. PushApp is the guide that helps people escape that current.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321040" y="1005840"/>
            <a:ext cx="2651760" cy="2651760"/>
          </a:xfrm>
          <a:prstGeom prst="ellipse">
            <a:avLst/>
          </a:prstGeom>
          <a:solidFill>
            <a:srgbClr val="179A9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18220" y="1303020"/>
            <a:ext cx="2057400" cy="2057400"/>
          </a:xfrm>
          <a:prstGeom prst="ellipse">
            <a:avLst/>
          </a:prstGeom>
          <a:solidFill>
            <a:srgbClr val="179A9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915400" y="1600200"/>
            <a:ext cx="1463040" cy="1463040"/>
          </a:xfrm>
          <a:prstGeom prst="ellipse">
            <a:avLst/>
          </a:prstGeom>
          <a:solidFill>
            <a:srgbClr val="F2765E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12580" y="1897380"/>
            <a:ext cx="868680" cy="868680"/>
          </a:xfrm>
          <a:prstGeom prst="ellipse">
            <a:avLst/>
          </a:prstGeom>
          <a:solidFill>
            <a:srgbClr val="F2765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62872" y="194767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7215" y="2132015"/>
            <a:ext cx="399410" cy="39941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18120" y="4160520"/>
            <a:ext cx="370332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924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meaningful goals stall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13816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smoking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new skill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healthy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professionally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relationships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moment for a personal-growth companion is here.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441448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588" y="2643348"/>
            <a:ext cx="437449" cy="4374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8528" y="245973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can finally be a companion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38528" y="31089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persistent, personalized guide that supports people between the reminders, sessions and conversations — not just another chatbot.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525780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441448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428" y="2643348"/>
            <a:ext cx="437449" cy="4374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6368" y="245973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real-life context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16368" y="31089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are always present and carry time, calendar and location — the signals needed to intervene at the right moment.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525780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681728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88" y="4883628"/>
            <a:ext cx="437449" cy="4374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38528" y="470001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Distraction is at an all-time high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38528" y="53492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life competes for attention like never before. People increasingly feel — and want to reverse — the cost of 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389120"/>
            <a:ext cx="525780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681728"/>
            <a:ext cx="841248" cy="841248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428" y="4883628"/>
            <a:ext cx="437449" cy="4374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6368" y="470001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went short &amp; continuous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16368" y="53492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now grow in short, interactive sessions rather than long courses. Habits and journeys fit this behavior perfectly.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5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029200" cy="5029200"/>
          </a:xfrm>
          <a:prstGeom prst="ellipse">
            <a:avLst/>
          </a:prstGeom>
          <a:solidFill>
            <a:srgbClr val="179A9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920240"/>
            <a:ext cx="4572000" cy="4572000"/>
          </a:xfrm>
          <a:prstGeom prst="ellipse">
            <a:avLst/>
          </a:prstGeom>
          <a:solidFill>
            <a:srgbClr val="F2765E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VISION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are not a finished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of themselves.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isn't fixed. Everyone can grow, change, and intentionally shape who they become. PushApp exists to help them do exactly that — and to stay on the path until they get there.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10908792" cy="1417320"/>
          </a:xfrm>
          <a:prstGeom prst="roundRect">
            <a:avLst>
              <a:gd name="adj" fmla="val 10323"/>
            </a:avLst>
          </a:prstGeom>
          <a:solidFill>
            <a:srgbClr val="0A4B4E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long-term vision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50749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operating system for personal growth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accessible, supported, and woven into everyday life, not reserved for the already-disciplined.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>
                    <a:alpha val="7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habit tracker.</a:t>
            </a:r>
            <a:endParaRPr lang="en-US" sz="3000" dirty="0"/>
          </a:p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personal-growth platform.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PushApp learns how each person succeeds and continuously adapts its support. It brings five things that usually live in separate apps into one coherent, emotionally-consistent experience.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3611880"/>
            <a:ext cx="960120" cy="96012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469" y="384230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Journeys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5166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goal into steps, a rhythm, a starter step and your “why.”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3291840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3611880"/>
            <a:ext cx="960120" cy="96012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89" y="384230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Buddy companion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5166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evolving creature that reacts, grows and celebrates with you.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3291840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0" y="3611880"/>
            <a:ext cx="960120" cy="96012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309" y="3842309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Meaningful support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37376" y="5166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chosen circle of friends who see progress and cheer you 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06840" y="3291840"/>
            <a:ext cx="260604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29800" y="3611880"/>
            <a:ext cx="960120" cy="96012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229" y="3842309"/>
            <a:ext cx="499262" cy="4992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 Engine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26296" y="51663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when, how — and when not — to nudge. Adaptive, not nagging.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Game-layer reinforcement</a:t>
            </a:r>
            <a:pPr algn="ctr" indent="0" marL="0">
              <a:buNone/>
            </a:pPr>
            <a:r>
              <a:rPr lang="en-US" sz="13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(XP, coins, achievements, celebrations) makes the process enjoyable — never the point.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loop that keeps people moving.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965960" cy="26517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47672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65860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6" y="305409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 Journey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" y="438912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steps, rhythm, starter step, your “why.”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606040" y="356616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75788" y="2514600"/>
            <a:ext cx="1965960" cy="26517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83380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01568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305409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03804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22092" y="438912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shows exactly what to do now. One tap to report.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4841748" y="356616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11496" y="2514600"/>
            <a:ext cx="1965960" cy="26517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19088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637276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3054096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39512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C6F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Buddy reacts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57800" y="438912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evolves, celebrates, and makes progress feel alive.</a:t>
            </a:r>
            <a:endParaRPr lang="en-US" sz="1080" dirty="0"/>
          </a:p>
        </p:txBody>
      </p:sp>
      <p:sp>
        <p:nvSpPr>
          <p:cNvPr id="24" name="Text 19"/>
          <p:cNvSpPr/>
          <p:nvPr/>
        </p:nvSpPr>
        <p:spPr>
          <a:xfrm>
            <a:off x="7077456" y="356616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347204" y="2514600"/>
            <a:ext cx="1965960" cy="26517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654796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7872984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054096"/>
            <a:ext cx="475488" cy="4754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75220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Allies cheer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493508" y="438912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chosen circle sees progress and encourages you.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9313164" y="3566160"/>
            <a:ext cx="2697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582912" y="2514600"/>
            <a:ext cx="1965960" cy="26517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10890504" y="26243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6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108692" y="2834640"/>
            <a:ext cx="914400" cy="91440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48" y="3054096"/>
            <a:ext cx="475488" cy="4754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10928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progress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729216" y="438912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you're changing — and a reason to return.</a:t>
            </a:r>
            <a:endParaRPr lang="en-US" sz="1080" dirty="0"/>
          </a:p>
        </p:txBody>
      </p:sp>
      <p:sp>
        <p:nvSpPr>
          <p:cNvPr id="38" name="Shape 31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16667"/>
            </a:avLst>
          </a:prstGeom>
          <a:solidFill>
            <a:srgbClr val="FBF3E9"/>
          </a:solidFill>
          <a:ln/>
        </p:spPr>
      </p:sp>
      <p:sp>
        <p:nvSpPr>
          <p:cNvPr id="39" name="Text 32"/>
          <p:cNvSpPr/>
          <p:nvPr/>
        </p:nvSpPr>
        <p:spPr>
          <a:xfrm>
            <a:off x="914400" y="5669280"/>
            <a:ext cx="10360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compounds:  </a:t>
            </a:r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deepens the Buddy bond, the social ties, and the belief “I can actually keep going.”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STICKS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emotional engine:</a:t>
            </a:r>
            <a:endParaRPr lang="en-US" sz="3000" dirty="0"/>
          </a:p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Buddy + game, not gimmicks.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676656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880360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30888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7157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Buddy creates a relationship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313639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“an AI assistant,” users build attachment to a companion that grows alongside them. Identity, recognition, consistency, personality — in one character. Over time, Buddy becomes PushApp.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640080" y="4297680"/>
            <a:ext cx="676656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4663440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" y="48719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44988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6F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Gamification is reinforcement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965960" y="491947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levels, coins, cosmetics, achievements and celebrations make growth enjoyable. They amplify motivation — they never replace it.</a:t>
            </a:r>
            <a:endParaRPr lang="en-US" sz="1230" dirty="0"/>
          </a:p>
        </p:txBody>
      </p:sp>
      <p:sp>
        <p:nvSpPr>
          <p:cNvPr id="14" name="Shape 10"/>
          <p:cNvSpPr/>
          <p:nvPr/>
        </p:nvSpPr>
        <p:spPr>
          <a:xfrm>
            <a:off x="7818120" y="2514600"/>
            <a:ext cx="3703320" cy="3566160"/>
          </a:xfrm>
          <a:prstGeom prst="roundRect">
            <a:avLst>
              <a:gd name="adj" fmla="val 4103"/>
            </a:avLst>
          </a:prstGeom>
          <a:solidFill>
            <a:srgbClr val="0E5F63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83464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reward never changes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13816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actually became the person I wanted to become.”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138160" y="5440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scaffolding around that moment.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don't just beat habit trackers.</a:t>
            </a:r>
            <a:endParaRPr lang="en-US" sz="28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replace the whole workaround.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349240" cy="3611880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people improvise with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2278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32004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notes &amp; calendars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7398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37124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&amp; to-do apps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5196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9888" y="42245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trackers (“Did you do it today?”)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76402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89888" y="47365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 for accountability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27608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89888" y="524865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for advice &amp; planning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960120" y="5669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Fragmented. Nothing owns your success.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355080" y="2468880"/>
            <a:ext cx="5468112" cy="3611880"/>
          </a:xfrm>
          <a:prstGeom prst="roundRect">
            <a:avLst>
              <a:gd name="adj" fmla="val 4051"/>
            </a:avLst>
          </a:prstGeom>
          <a:solidFill>
            <a:srgbClr val="0E5F63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 is the one system</a:t>
            </a:r>
            <a:endParaRPr lang="en-US" sz="1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321868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14032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Journey-based growth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sustained change, not daily checkboxes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3730752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14032" y="3712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support, by design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asking for help made easy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4242816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114032" y="4224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success metrics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progress, not app-time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2552" y="4754880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114032" y="4736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augmentation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personal, never a replacement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2552" y="5266944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114032" y="5248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growth marketplace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creators, coaches &amp; brands</a:t>
            </a:r>
            <a:endParaRPr lang="en-US" sz="1300" dirty="0"/>
          </a:p>
        </p:txBody>
      </p:sp>
      <p:sp>
        <p:nvSpPr>
          <p:cNvPr id="29" name="Text 17"/>
          <p:cNvSpPr/>
          <p:nvPr/>
        </p:nvSpPr>
        <p:spPr>
          <a:xfrm>
            <a:off x="6675120" y="5669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aim: the system users trust to maximize their probability of success.</a:t>
            </a:r>
            <a:endParaRPr lang="en-US" sz="1250" dirty="0"/>
          </a:p>
        </p:txBody>
      </p:sp>
      <p:sp>
        <p:nvSpPr>
          <p:cNvPr id="30" name="Text 18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31" name="Text 19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completed Journey makes</a:t>
            </a:r>
            <a:endParaRPr lang="en-US" sz="28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next one more likely to succeed.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long-term advantage isn't only AI — it's a proprietary understanding of what actually helps different people finish meaningful journeys.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4728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motivates each kind of person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1421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3995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timing and nudges actually work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8114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" y="45628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Journey structures succeed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48072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8992" y="51297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Ally relationships drive outcomes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40080" y="5806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D9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 Engine compounds with every user. Data others can't buy — only earn.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7818120" y="1737360"/>
            <a:ext cx="3749040" cy="3749040"/>
          </a:xfrm>
          <a:prstGeom prst="ellipse">
            <a:avLst/>
          </a:prstGeom>
          <a:solidFill>
            <a:srgbClr val="179A9C">
              <a:alpha val="12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8915400" y="2834640"/>
            <a:ext cx="1554480" cy="1554480"/>
          </a:xfrm>
          <a:prstGeom prst="ellipse">
            <a:avLst/>
          </a:prstGeom>
          <a:solidFill>
            <a:srgbClr val="0E5F63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8475" y="3207715"/>
            <a:ext cx="808330" cy="80833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915400" y="1655064"/>
            <a:ext cx="15544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1"/>
          <p:cNvSpPr/>
          <p:nvPr/>
        </p:nvSpPr>
        <p:spPr>
          <a:xfrm>
            <a:off x="8915400" y="1655064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users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10277457" y="4014216"/>
            <a:ext cx="15544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10277457" y="401421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completed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Journeys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553343" y="4014216"/>
            <a:ext cx="1554480" cy="768096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553343" y="4014216"/>
            <a:ext cx="1554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focused. Expand into a</a:t>
            </a:r>
            <a:endParaRPr lang="en-US" sz="2800" dirty="0"/>
          </a:p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multi-vertical growth platform.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building meaningful habits &amp; goals across life — reached through short-form social (Instagram / TikTok) with sharing as the viral 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3286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191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self-development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67588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80756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7124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between sessions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197096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328770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2336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8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wellbeing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benefits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40080" y="4718304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849978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754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&amp; institutions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371186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2760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adherence   </a:t>
            </a:r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&amp; outcomes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589520" y="1645920"/>
            <a:ext cx="4023360" cy="4023360"/>
          </a:xfrm>
          <a:prstGeom prst="ellipse">
            <a:avLst/>
          </a:prstGeom>
          <a:solidFill>
            <a:srgbClr val="EC6F9C">
              <a:alpha val="14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8001000" y="2057400"/>
            <a:ext cx="3200400" cy="3200400"/>
          </a:xfrm>
          <a:prstGeom prst="ellipse">
            <a:avLst/>
          </a:prstGeom>
          <a:solidFill>
            <a:srgbClr val="8B6FD6">
              <a:alpha val="18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8412480" y="2468880"/>
            <a:ext cx="2377440" cy="2377440"/>
          </a:xfrm>
          <a:prstGeom prst="ellipse">
            <a:avLst/>
          </a:prstGeom>
          <a:solidFill>
            <a:srgbClr val="4A80E0">
              <a:alpha val="26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8823960" y="2880360"/>
            <a:ext cx="1554480" cy="1554480"/>
          </a:xfrm>
          <a:prstGeom prst="ellipse">
            <a:avLst/>
          </a:prstGeom>
          <a:solidFill>
            <a:srgbClr val="179A9C">
              <a:alpha val="38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9166860" y="3223260"/>
            <a:ext cx="868680" cy="868680"/>
          </a:xfrm>
          <a:prstGeom prst="ellipse">
            <a:avLst/>
          </a:prstGeom>
          <a:solidFill>
            <a:srgbClr val="F2765E">
              <a:alpha val="8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909828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</a:t>
            </a:r>
            <a:endParaRPr lang="en-US" sz="12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" y="5870448"/>
            <a:ext cx="6446520" cy="402336"/>
          </a:xfrm>
          <a:prstGeom prst="roundRect">
            <a:avLst>
              <a:gd name="adj" fmla="val 18182"/>
            </a:avLst>
          </a:prstGeom>
          <a:solidFill>
            <a:srgbClr val="FBF3E9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70448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sizing is an explicit next work item — flagged, not hand-waved.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portfolio of streams — not a single bet.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growth always works for free. Monetization reinforces progress, never interrupts it — and turns on across the roadmap.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7300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783" y="3015691"/>
            <a:ext cx="451714" cy="4517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07592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F1B24A"/>
          </a:solidFill>
          <a:ln/>
        </p:spPr>
      </p:sp>
      <p:sp>
        <p:nvSpPr>
          <p:cNvPr id="9" name="Text 6"/>
          <p:cNvSpPr/>
          <p:nvPr/>
        </p:nvSpPr>
        <p:spPr>
          <a:xfrm>
            <a:off x="1307592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economy / Shop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4636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Coins, cosmetics, Buddy items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2916936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4156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639" y="3015691"/>
            <a:ext cx="451714" cy="45171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584448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8B6FD6"/>
          </a:solidFill>
          <a:ln/>
        </p:spPr>
      </p:sp>
      <p:sp>
        <p:nvSpPr>
          <p:cNvPr id="16" name="Text 12"/>
          <p:cNvSpPr/>
          <p:nvPr/>
        </p:nvSpPr>
        <p:spPr>
          <a:xfrm>
            <a:off x="3584448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054096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subscription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063240" y="4636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planning, analytics, premium</a:t>
            </a:r>
            <a:endParaRPr lang="en-US" sz="1030" dirty="0"/>
          </a:p>
        </p:txBody>
      </p:sp>
      <p:sp>
        <p:nvSpPr>
          <p:cNvPr id="19" name="Shape 15"/>
          <p:cNvSpPr/>
          <p:nvPr/>
        </p:nvSpPr>
        <p:spPr>
          <a:xfrm>
            <a:off x="5193792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11012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495" y="3015691"/>
            <a:ext cx="451714" cy="45171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861304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F2765E"/>
          </a:solidFill>
          <a:ln/>
        </p:spPr>
      </p:sp>
      <p:sp>
        <p:nvSpPr>
          <p:cNvPr id="23" name="Text 18"/>
          <p:cNvSpPr/>
          <p:nvPr/>
        </p:nvSpPr>
        <p:spPr>
          <a:xfrm>
            <a:off x="5861304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330952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marketplace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340096" y="4636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Journeys + revenue share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7470648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087868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351" y="3015691"/>
            <a:ext cx="451714" cy="45171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138160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4A80E0"/>
          </a:solidFill>
          <a:ln/>
        </p:spPr>
      </p:sp>
      <p:sp>
        <p:nvSpPr>
          <p:cNvPr id="30" name="Text 24"/>
          <p:cNvSpPr/>
          <p:nvPr/>
        </p:nvSpPr>
        <p:spPr>
          <a:xfrm>
            <a:off x="8138160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7607808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4A80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Journeys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616952" y="4636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fee · rev-share · placement</a:t>
            </a:r>
            <a:endParaRPr lang="en-US" sz="1030" dirty="0"/>
          </a:p>
        </p:txBody>
      </p:sp>
      <p:sp>
        <p:nvSpPr>
          <p:cNvPr id="33" name="Shape 27"/>
          <p:cNvSpPr/>
          <p:nvPr/>
        </p:nvSpPr>
        <p:spPr>
          <a:xfrm>
            <a:off x="9747504" y="2514600"/>
            <a:ext cx="2103120" cy="25146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364724" y="2807208"/>
            <a:ext cx="868680" cy="86868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3207" y="3015691"/>
            <a:ext cx="451714" cy="45171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415016" y="3776472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179A9C"/>
          </a:solidFill>
          <a:ln/>
        </p:spPr>
      </p:sp>
      <p:sp>
        <p:nvSpPr>
          <p:cNvPr id="37" name="Text 30"/>
          <p:cNvSpPr/>
          <p:nvPr/>
        </p:nvSpPr>
        <p:spPr>
          <a:xfrm>
            <a:off x="10415016" y="377647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V3–V4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9884664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 / pro tier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9893808" y="463600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today · coach marketplace later</a:t>
            </a:r>
            <a:endParaRPr lang="en-US" sz="1030" dirty="0"/>
          </a:p>
        </p:txBody>
      </p:sp>
      <p:sp>
        <p:nvSpPr>
          <p:cNvPr id="40" name="Shape 33"/>
          <p:cNvSpPr/>
          <p:nvPr/>
        </p:nvSpPr>
        <p:spPr>
          <a:xfrm>
            <a:off x="640080" y="534924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0E5F63"/>
          </a:solidFill>
          <a:ln/>
        </p:spPr>
      </p:sp>
      <p:sp>
        <p:nvSpPr>
          <p:cNvPr id="41" name="Text 34"/>
          <p:cNvSpPr/>
          <p:nvPr/>
        </p:nvSpPr>
        <p:spPr>
          <a:xfrm>
            <a:off x="960120" y="53492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B24A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revenue leans on IAP + subscription.  </a:t>
            </a:r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&amp; business marketplaces are the later scaling engine. (Grace Tokens are deliberately never sold.)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versions, one escalating proof.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6554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· POC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364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 social + Buddy drive persistence?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397764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thinnest build: Journey loop, evolving Buddy, Allies who cheer, coin economy, basic reminders.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896112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7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“People change behavior here”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65576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21608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146" y="265541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62856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· MVP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21608" y="3364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product you'd adopt solo, for months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721608" y="397764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Explore library, real onboarding (egg→hatch), full Journey types, light AI encouragement, Grace Tokens.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3721608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19" name="Text 15"/>
          <p:cNvSpPr/>
          <p:nvPr/>
        </p:nvSpPr>
        <p:spPr>
          <a:xfrm>
            <a:off x="3721608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“People change behavior here”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91072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47104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2" y="2655418"/>
            <a:ext cx="404165" cy="4041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88352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 · Commercial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547104" y="3364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polished, paid version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47104" y="397764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Intervention Engine, weekly planning, AI Journey-drafting, Achievements, deeper economy, subscription.</a:t>
            </a:r>
            <a:endParaRPr lang="en-US" sz="1130" dirty="0"/>
          </a:p>
        </p:txBody>
      </p:sp>
      <p:sp>
        <p:nvSpPr>
          <p:cNvPr id="26" name="Shape 21"/>
          <p:cNvSpPr/>
          <p:nvPr/>
        </p:nvSpPr>
        <p:spPr>
          <a:xfrm>
            <a:off x="6547104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27" name="Text 22"/>
          <p:cNvSpPr/>
          <p:nvPr/>
        </p:nvSpPr>
        <p:spPr>
          <a:xfrm>
            <a:off x="6547104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 charge”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116568" y="2194560"/>
            <a:ext cx="2651760" cy="34290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372600" y="2468880"/>
            <a:ext cx="777240" cy="777240"/>
          </a:xfrm>
          <a:prstGeom prst="ellipse">
            <a:avLst/>
          </a:prstGeom>
          <a:solidFill>
            <a:srgbClr val="FAFAF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138" y="2655418"/>
            <a:ext cx="404165" cy="4041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213848" y="250545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8B6F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V4 · Scale / Ecosystem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372600" y="3364992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&amp; the vision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9372600" y="3977640"/>
            <a:ext cx="2139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3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&amp; business marketplaces, Rich Step Types, Buddy voice, AI roadmaps, full dynamic JITAI engine.</a:t>
            </a:r>
            <a:endParaRPr lang="en-US" sz="1130" dirty="0"/>
          </a:p>
        </p:txBody>
      </p:sp>
      <p:sp>
        <p:nvSpPr>
          <p:cNvPr id="34" name="Shape 28"/>
          <p:cNvSpPr/>
          <p:nvPr/>
        </p:nvSpPr>
        <p:spPr>
          <a:xfrm>
            <a:off x="9372600" y="5056632"/>
            <a:ext cx="2139696" cy="384048"/>
          </a:xfrm>
          <a:prstGeom prst="roundRect">
            <a:avLst>
              <a:gd name="adj" fmla="val 23810"/>
            </a:avLst>
          </a:prstGeom>
          <a:solidFill>
            <a:srgbClr val="FBF3E9"/>
          </a:solidFill>
          <a:ln/>
        </p:spPr>
      </p:sp>
      <p:sp>
        <p:nvSpPr>
          <p:cNvPr id="35" name="Text 29"/>
          <p:cNvSpPr/>
          <p:nvPr/>
        </p:nvSpPr>
        <p:spPr>
          <a:xfrm>
            <a:off x="9372600" y="505663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“Platform + moat”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framing along the top of the arrow →  prove behavior change  →  prove we can charge  →  prove platform &amp; moat.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built into the product.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through short-form social aimed at self-improvement audiences, with sharing and friend invitations as the primary viral loop — then expand through creators and coaches who bring their own audiences.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37479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3657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6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social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&amp; TikTok, self-improvement creators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4215384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4351447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89888" y="42611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8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Journey sharing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Journeys are inherently shareable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818888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954951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9888" y="48646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invitations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Circle is the growth loop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" y="5422392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5558455"/>
            <a:ext cx="294803" cy="29480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9888" y="54681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7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&amp; coaches   </a:t>
            </a:r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existing audiences onto the platform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635240" y="2240280"/>
            <a:ext cx="3913632" cy="3840480"/>
          </a:xfrm>
          <a:prstGeom prst="roundRect">
            <a:avLst>
              <a:gd name="adj" fmla="val 3810"/>
            </a:avLst>
          </a:prstGeom>
          <a:solidFill>
            <a:srgbClr val="0E5F63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9552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compounding loop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955280" y="3063240"/>
            <a:ext cx="384048" cy="384048"/>
          </a:xfrm>
          <a:prstGeom prst="ellipse">
            <a:avLst/>
          </a:prstGeom>
          <a:solidFill>
            <a:srgbClr val="F2765E"/>
          </a:solidFill>
          <a:ln/>
        </p:spPr>
      </p:sp>
      <p:sp>
        <p:nvSpPr>
          <p:cNvPr id="20" name="Text 14"/>
          <p:cNvSpPr/>
          <p:nvPr/>
        </p:nvSpPr>
        <p:spPr>
          <a:xfrm>
            <a:off x="79552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485632" y="3063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makes progress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147304" y="3447288"/>
            <a:ext cx="0" cy="310896"/>
          </a:xfrm>
          <a:prstGeom prst="line">
            <a:avLst/>
          </a:prstGeom>
          <a:noFill/>
          <a:ln w="25400">
            <a:solidFill>
              <a:srgbClr val="F2765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955280" y="3758184"/>
            <a:ext cx="384048" cy="384048"/>
          </a:xfrm>
          <a:prstGeom prst="ellipse">
            <a:avLst/>
          </a:prstGeom>
          <a:solidFill>
            <a:srgbClr val="F2765E"/>
          </a:solidFill>
          <a:ln/>
        </p:spPr>
      </p:sp>
      <p:sp>
        <p:nvSpPr>
          <p:cNvPr id="24" name="Text 18"/>
          <p:cNvSpPr/>
          <p:nvPr/>
        </p:nvSpPr>
        <p:spPr>
          <a:xfrm>
            <a:off x="79552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485632" y="37581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it / invite a friend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147304" y="4142232"/>
            <a:ext cx="0" cy="310896"/>
          </a:xfrm>
          <a:prstGeom prst="line">
            <a:avLst/>
          </a:prstGeom>
          <a:noFill/>
          <a:ln w="25400">
            <a:solidFill>
              <a:srgbClr val="F2765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955280" y="4453128"/>
            <a:ext cx="384048" cy="384048"/>
          </a:xfrm>
          <a:prstGeom prst="ellipse">
            <a:avLst/>
          </a:prstGeom>
          <a:solidFill>
            <a:srgbClr val="F2765E"/>
          </a:solidFill>
          <a:ln/>
        </p:spPr>
      </p:sp>
      <p:sp>
        <p:nvSpPr>
          <p:cNvPr id="28" name="Text 22"/>
          <p:cNvSpPr/>
          <p:nvPr/>
        </p:nvSpPr>
        <p:spPr>
          <a:xfrm>
            <a:off x="795528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485632" y="4453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friend joins &amp; supports back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147304" y="4837176"/>
            <a:ext cx="0" cy="310896"/>
          </a:xfrm>
          <a:prstGeom prst="line">
            <a:avLst/>
          </a:prstGeom>
          <a:noFill/>
          <a:ln w="25400">
            <a:solidFill>
              <a:srgbClr val="F2765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955280" y="5148072"/>
            <a:ext cx="384048" cy="384048"/>
          </a:xfrm>
          <a:prstGeom prst="ellipse">
            <a:avLst/>
          </a:prstGeom>
          <a:solidFill>
            <a:srgbClr val="F2765E"/>
          </a:solidFill>
          <a:ln/>
        </p:spPr>
      </p:sp>
      <p:sp>
        <p:nvSpPr>
          <p:cNvPr id="32" name="Text 26"/>
          <p:cNvSpPr/>
          <p:nvPr/>
        </p:nvSpPr>
        <p:spPr>
          <a:xfrm>
            <a:off x="795528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485632" y="51480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9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persist longer together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2E2E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someone who lived the problem.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46120" cy="3840480"/>
          </a:xfrm>
          <a:prstGeom prst="roundRect">
            <a:avLst>
              <a:gd name="adj" fmla="val 4507"/>
            </a:avLst>
          </a:prstGeom>
          <a:solidFill>
            <a:srgbClr val="0E5F63"/>
          </a:solidFill>
          <a:ln/>
          <a:effectLst>
            <a:outerShdw sx="100000" sy="100000" kx="0" ky="0" algn="bl" rotWithShape="0" blurRad="1143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6060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148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Imagine. Dare. Achieve.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0560" y="2286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story isn't “One big success.”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480560" y="267004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opposite. He repeatedly experienced how hard it is to stay on the path — often knowing what he wanted, sometimes even starting, only to feel life slowly pull him back into old routines.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80560" y="3584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always needed support.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480560" y="3968496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change did stick, it took structure, accountability and encouragement. The realization: millions of people live exactly this struggle.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80560" y="488289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 is the system he never had.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480560" y="5266944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E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companion, a circle, and a structure designed to raise anyone's probability of becoming who they choose to be.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9A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PushApp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634472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5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486400" cy="5486400"/>
          </a:xfrm>
          <a:prstGeom prst="ellipse">
            <a:avLst/>
          </a:prstGeom>
          <a:solidFill>
            <a:srgbClr val="179A9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566160"/>
            <a:ext cx="5029200" cy="5029200"/>
          </a:xfrm>
          <a:prstGeom prst="ellipse">
            <a:avLst/>
          </a:prstGeom>
          <a:solidFill>
            <a:srgbClr val="F2765E">
              <a:alpha val="1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MAGIC MOMENT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 didn't think I could stay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consistent… but I actually did.”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4434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first moment of self-belief is the product. Everything we build exists to make it happen more often, for more people.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2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Imagine.</a:t>
            </a:r>
            <a:pPr indent="0" marL="0">
              <a:buNone/>
            </a:pPr>
            <a:r>
              <a:rPr lang="en-US" sz="2400" b="1" dirty="0">
                <a:solidFill>
                  <a:srgbClr val="F276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Dare.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Achieve.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PushApp  ·  Helping people become who they choose to be.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PushApp — Investor Pitch</dc:title>
  <dc:subject>PptxGenJS Presentation</dc:subject>
  <dc:creator>PushApp</dc:creator>
  <cp:lastModifiedBy>PushApp</cp:lastModifiedBy>
  <cp:revision>1</cp:revision>
  <dcterms:created xsi:type="dcterms:W3CDTF">2026-07-08T07:37:15Z</dcterms:created>
  <dcterms:modified xsi:type="dcterms:W3CDTF">2026-07-08T07:37:15Z</dcterms:modified>
</cp:coreProperties>
</file>